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91248db9e04350" /><Relationship Type="http://schemas.openxmlformats.org/officeDocument/2006/relationships/extended-properties" Target="/docProps/app.xml" Id="R1516dfb306a142d5" /><Relationship Type="http://schemas.openxmlformats.org/officeDocument/2006/relationships/officeDocument" Target="/ppt/presentation.xml" Id="R94d8633158d84e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ef050b016d4c44"/>
  </p:sldMasterIdLst>
  <p:notesMasterIdLst>
    <p:notesMasterId xmlns:r="http://schemas.openxmlformats.org/officeDocument/2006/relationships" r:id="R20028f18e4e84e2a"/>
  </p:notesMasterIdLst>
  <p:sldIdLst>
    <p:sldId xmlns:r="http://schemas.openxmlformats.org/officeDocument/2006/relationships" id="256" r:id="Rfe5d4e59e95447c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8db17dc91e4595" /><Relationship Type="http://schemas.openxmlformats.org/officeDocument/2006/relationships/slideMaster" Target="/ppt/slideMasters/slideMaster1.xml" Id="Re7ef050b016d4c44" /><Relationship Type="http://schemas.openxmlformats.org/officeDocument/2006/relationships/notesMaster" Target="/ppt/notesMasters/notesMaster1.xml" Id="R20028f18e4e84e2a" /><Relationship Type="http://schemas.openxmlformats.org/officeDocument/2006/relationships/presProps" Target="/ppt/presProps.xml" Id="R6d29af4e632e4747" /><Relationship Type="http://schemas.openxmlformats.org/officeDocument/2006/relationships/tableStyles" Target="/ppt/tableStyles.xml" Id="R6c02a26dce7e40d7" /><Relationship Type="http://schemas.openxmlformats.org/officeDocument/2006/relationships/slide" Target="/ppt/slides/slide1.xml" Id="Rfe5d4e59e95447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346865d31e4b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eorgia Pro"/>
        <a:ea typeface=""/>
        <a:cs typeface=""/>
      </a:majorFont>
      <a:minorFont>
        <a:latin typeface="Georgia Pr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a3db42218846c4" /><Relationship Type="http://schemas.openxmlformats.org/officeDocument/2006/relationships/notesMaster" Target="/ppt/notesMasters/notesMaster1.xml" Id="R4ee119599c2946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Hypothetical risky expected return .10, standard deviation .20, risk-free rate .03. At y=.5, complete return .065 and SD .10. The CAL is the available set when mixing the fixed risky portfolio with the risk-free asset. All objects are independently editable. The graph assumes no borrowing.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b2a0fc8d04c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60701e9b148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8bd54fa3549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6998fc28d4e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4264a295648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4298e643c47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6BD564-D300-420E-8C01-B3AF2E6937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FD5F3F-DBE7-49DF-969D-47F30BC018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055D14-68DC-481D-8A8F-C832247CA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23BFBF-3759-483A-A556-EC7638FEFD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CD2CCD-E0B7-4C60-A793-F06690A3FC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5E3167-6FA6-4D4D-98C3-7502D6A464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CDD0B7-8265-46B0-A60E-886E42BB17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9E29D7-5998-449D-909C-F35ABC40C1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913CC7-E742-4DC9-8837-E60095F4F8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1F538C-46FF-4159-90F2-E8FE7A3903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1b011264064012" /><Relationship Type="http://schemas.openxmlformats.org/officeDocument/2006/relationships/slideLayout" Target="/ppt/slideLayouts/slideLayout1.xml" Id="R270ad403519c41cd" /><Relationship Type="http://schemas.openxmlformats.org/officeDocument/2006/relationships/slideLayout" Target="/ppt/slideLayouts/slideLayout2.xml" Id="R37f9e85f23ca40cc" /><Relationship Type="http://schemas.openxmlformats.org/officeDocument/2006/relationships/slideLayout" Target="/ppt/slideLayouts/slideLayout3.xml" Id="Rfac7252de21c4506" /><Relationship Type="http://schemas.openxmlformats.org/officeDocument/2006/relationships/slideLayout" Target="/ppt/slideLayouts/slideLayout4.xml" Id="R33d22737d48e4010" /><Relationship Type="http://schemas.openxmlformats.org/officeDocument/2006/relationships/slideLayout" Target="/ppt/slideLayouts/slideLayout5.xml" Id="R3a000048d7c24a4c" /><Relationship Type="http://schemas.openxmlformats.org/officeDocument/2006/relationships/slideLayout" Target="/ppt/slideLayouts/slideLayout6.xml" Id="R0d4df41c08284c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0ad403519c41cd"/>
    <p:sldLayoutId xmlns:r="http://schemas.openxmlformats.org/officeDocument/2006/relationships" id="2147483650" r:id="R37f9e85f23ca40cc"/>
    <p:sldLayoutId xmlns:r="http://schemas.openxmlformats.org/officeDocument/2006/relationships" id="2147483651" r:id="Rfac7252de21c4506"/>
    <p:sldLayoutId xmlns:r="http://schemas.openxmlformats.org/officeDocument/2006/relationships" id="2147483652" r:id="R33d22737d48e4010"/>
    <p:sldLayoutId xmlns:r="http://schemas.openxmlformats.org/officeDocument/2006/relationships" id="2147483653" r:id="R3a000048d7c24a4c"/>
    <p:sldLayoutId xmlns:r="http://schemas.openxmlformats.org/officeDocument/2006/relationships" id="2147483654" r:id="R0d4df41c08284c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eorgia Pro"/>
        <a:ea typeface=""/>
        <a:cs typeface=""/>
      </a:majorFont>
      <a:minorFont>
        <a:latin typeface="Georgia Pr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25baf128c8494b" /><Relationship Type="http://schemas.openxmlformats.org/officeDocument/2006/relationships/notesSlide" Target="/ppt/notesSlides/notesSlide1.xml" Id="R00008dafe6804d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295410-309B-4F7C-AC75-50E8551E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695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4875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4875" b="1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Capital allocation line (CAL)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4BCE8-323D-4F28-AD36-B74355A5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695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285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85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Different allocations of the same risky portfolio and T-bills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9FCF5-4977-4142-97D3-B13BE4AD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809750" y="2952750"/>
                </a:moveTo>
                <a:lnTo>
                  <a:pt x="1809750" y="72866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A25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AA804-603D-494D-BC8A-3CF2D9A3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809750" y="7286625"/>
                </a:moveTo>
                <a:lnTo>
                  <a:pt x="10572750" y="72866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A25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3F08C-D1A3-48AC-B52E-D68D4095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809750" y="7286625"/>
                </a:moveTo>
                <a:lnTo>
                  <a:pt x="1809750" y="74295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A25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EB512-E571-4C5D-8797-CEEAB3BB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4866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C8AF5-8842-416A-848E-8C34A505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6096000" y="7286625"/>
                </a:moveTo>
                <a:lnTo>
                  <a:pt x="6096000" y="74295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A25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7F0F7-D900-47A8-A59B-929EDA53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4866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10%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1989D-8612-4884-B493-41081CF7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0382250" y="7286625"/>
                </a:moveTo>
                <a:lnTo>
                  <a:pt x="10382250" y="74295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A25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32850-894D-41A1-A328-059EEFB7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4866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20%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680A6-D2A4-488C-8454-D7E4223F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666875" y="7286625"/>
                </a:moveTo>
                <a:lnTo>
                  <a:pt x="1809750" y="72866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A25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FFEDC-040C-493F-B8CB-9D959C32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294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r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r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F5DD9-37AD-4129-9F00-574DCE39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666875" y="6029325"/>
                </a:moveTo>
                <a:lnTo>
                  <a:pt x="1809750" y="60293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A25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C357F-6EE0-462C-8917-F0591195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r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r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F0CC1-2485-4D6E-9781-AA20A952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666875" y="4562475"/>
                </a:moveTo>
                <a:lnTo>
                  <a:pt x="1809750" y="45624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A25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BA7A5-6951-4250-B0AF-15553D21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r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r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6.5%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D5EEF-1E27-4F0A-AE6B-40A9D512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666875" y="3095625"/>
                </a:moveTo>
                <a:lnTo>
                  <a:pt x="180975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A25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CA84C-41A3-4D73-8A6C-EF63CFD6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r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r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10%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7AF6-35D9-4F23-BADC-04CF3603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809750" y="6029325"/>
                </a:moveTo>
                <a:lnTo>
                  <a:pt x="1038225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1B6F7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C7273-631C-4E71-9B5D-8EFA5A08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1809750" y="4562475"/>
                </a:moveTo>
                <a:lnTo>
                  <a:pt x="6096000" y="45624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8EE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377E9-20BD-4A7E-A4B3-766A8767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pathLst>
              <a:path w="18288000" h="10287000">
                <a:moveTo>
                  <a:pt x="6096000" y="4562475"/>
                </a:moveTo>
                <a:lnTo>
                  <a:pt x="6096000" y="7286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8EE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1FF16-2354-4FB9-AA7B-237E811A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886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43D"/>
          </a:solidFill>
          <a:ln xmlns:a="http://schemas.openxmlformats.org/drawingml/2006/main" w="28575">
            <a:solidFill>
              <a:srgbClr val="FAF8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044831-E09E-47F0-ADEB-E554C1D2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19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73"/>
          </a:solidFill>
          <a:ln xmlns:a="http://schemas.openxmlformats.org/drawingml/2006/main" w="28575">
            <a:solidFill>
              <a:srgbClr val="FAF8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2056FA-18DD-4E98-BFE2-6979E734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52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F73"/>
          </a:solidFill>
          <a:ln xmlns:a="http://schemas.openxmlformats.org/drawingml/2006/main" w="28575">
            <a:solidFill>
              <a:srgbClr val="FAF8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81EEA-4A57-4A1D-81F6-5C7BA532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1055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All T-bills · y=0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0A1E04-DF70-41E8-BED6-1E084958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38675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50/50 mix · y=0.5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6C5328-79B9-4D81-A8D8-9B7CEEA6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40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All risky · y=1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0C8D08-1C54-4C18-A50F-F9D68184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700" b="1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Expected return E(Rc)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9ACDC2-6CC3-4F1D-85FE-BE0AA266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9533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700" b="1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Risk: standard deviation σc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1D30AE-5DD4-4729-BC18-1ED081D2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714625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3450" b="1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Move along the 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D9693C-62BC-48D1-A973-70E4B962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619500"/>
            <a:ext cx="609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262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625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Changing y changes risky exposure.</a:t>
            </a:r>
          </a:p>
          <a:p xmlns:a="http://schemas.openxmlformats.org/drawingml/2006/main">
            <a:pPr algn="l">
              <a:defRPr sz="262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625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The risky portfolio’s composition</a:t>
            </a:r>
          </a:p>
          <a:p xmlns:a="http://schemas.openxmlformats.org/drawingml/2006/main">
            <a:pPr algn="l">
              <a:defRPr sz="262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625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stays the same.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ADD8BA-7B9B-44D8-90CE-31D7A199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381625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55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Risky: return 10%, risk 20%</a:t>
            </a:r>
          </a:p>
          <a:p xmlns:a="http://schemas.openxmlformats.org/drawingml/2006/main">
            <a:pPr algn="l">
              <a:defRPr sz="255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55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T-bills: return 3%, risk 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FED0C1-7323-46EC-BA66-04C8D8C0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609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B6F73"/>
                </a:solidFill>
                <a:latin typeface="Georgia Pro"/>
                <a:ea typeface="Georgia Pro"/>
                <a:cs typeface="Georgia Pro"/>
              </a:defRPr>
            </a:pPr>
            <a:r>
              <a:rPr sz="3000" b="1">
                <a:solidFill>
                  <a:srgbClr val="1B6F73"/>
                </a:solidFill>
                <a:latin typeface="Georgia Pro"/>
                <a:ea typeface="Georgia Pro"/>
                <a:cs typeface="Georgia Pro"/>
              </a:rPr>
              <a:t>At 50% risky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25448F-0438-43D3-954A-32301B9C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334250"/>
            <a:ext cx="609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325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Return = 3% + 0.5(10%−3%) = 6.5%</a:t>
            </a:r>
          </a:p>
          <a:p xmlns:a="http://schemas.openxmlformats.org/drawingml/2006/main">
            <a:pPr algn="l">
              <a:defRPr sz="2325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325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Risk = 0.5 × 20% = 10%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213CE4-0BAC-4CDD-B9F3-4295610E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572500"/>
            <a:ext cx="1638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2700" b="1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E(Rc)=Rf+y[E(Rp)−Rf]     |     σc=yσp, for y≥0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97C29A-B833-4CA8-93C8-7073F7BB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96375"/>
            <a:ext cx="16954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2B5C81-ECEC-41BF-A0E0-49193A76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163050"/>
            <a:ext cx="1647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Georgia Pro"/>
                <a:ea typeface="Georgia Pro"/>
                <a:cs typeface="Georgia Pro"/>
              </a:defRPr>
            </a:pPr>
            <a:r>
              <a:rPr sz="2700" b="1">
                <a:solidFill>
                  <a:srgbClr val="FFFFFF"/>
                </a:solidFill>
                <a:latin typeface="Georgia Pro"/>
                <a:ea typeface="Georgia Pro"/>
                <a:cs typeface="Georgia Pro"/>
              </a:rPr>
              <a:t>Each point is a complete portfolio. Together, the points form the CAL.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05BD0E-1A56-4F04-AEC9-A17FCA68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858375"/>
            <a:ext cx="1657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A2540"/>
                </a:solidFill>
                <a:latin typeface="Georgia Pro"/>
                <a:ea typeface="Georgia Pro"/>
                <a:cs typeface="Georgia Pro"/>
              </a:defRPr>
            </a:pPr>
            <a:r>
              <a:rPr sz="1800" b="0">
                <a:solidFill>
                  <a:srgbClr val="0A2540"/>
                </a:solidFill>
                <a:latin typeface="Georgia Pro"/>
                <a:ea typeface="Georgia Pro"/>
                <a:cs typeface="Georgia Pro"/>
              </a:rPr>
              <a:t>Illustration: 0≤y≤1, no borrowing; T-bills are risk-free over the investment period.</a:t>
            </a:r>
          </a:p>
        </p:txBody>
      </p:sp>
    </p:spTree>
    <p:extLst>
      <p:ext uri="{BB962C8B-B14F-4D97-AF65-F5344CB8AC3E}">
        <p14:creationId xmlns:p14="http://schemas.microsoft.com/office/powerpoint/2010/main" val="1391386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eorgia Pro"/>
        <a:ea typeface=""/>
        <a:cs typeface=""/>
      </a:majorFont>
      <a:minorFont>
        <a:latin typeface="Georgia Pr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2026-10-11T16:57:38.5470000Z</dcterms:created>
  <dcterms:modified xsi:type="dcterms:W3CDTF">2026-10-11T16:57:38.5470000Z</dcterms:modified>
</coreProperties>
</file>