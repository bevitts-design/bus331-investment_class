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50b9e1aaf345d5" /><Relationship Type="http://schemas.openxmlformats.org/officeDocument/2006/relationships/extended-properties" Target="/docProps/app.xml" Id="Rca433f3a6dc04cce" /><Relationship Type="http://schemas.openxmlformats.org/officeDocument/2006/relationships/officeDocument" Target="/ppt/presentation.xml" Id="R06ec95d4c7754c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2c233f74bd4f35"/>
  </p:sldMasterIdLst>
  <p:notesMasterIdLst>
    <p:notesMasterId xmlns:r="http://schemas.openxmlformats.org/officeDocument/2006/relationships" r:id="R913b8f8d46634be9"/>
  </p:notesMasterIdLst>
  <p:sldIdLst>
    <p:sldId xmlns:r="http://schemas.openxmlformats.org/officeDocument/2006/relationships" id="256" r:id="Raf5a04a3fd4748ee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afa967726b438e" /><Relationship Type="http://schemas.openxmlformats.org/officeDocument/2006/relationships/slideMaster" Target="/ppt/slideMasters/slideMaster1.xml" Id="R842c233f74bd4f35" /><Relationship Type="http://schemas.openxmlformats.org/officeDocument/2006/relationships/notesMaster" Target="/ppt/notesMasters/notesMaster1.xml" Id="R913b8f8d46634be9" /><Relationship Type="http://schemas.openxmlformats.org/officeDocument/2006/relationships/presProps" Target="/ppt/presProps.xml" Id="R0454d418340d4c41" /><Relationship Type="http://schemas.openxmlformats.org/officeDocument/2006/relationships/tableStyles" Target="/ppt/tableStyles.xml" Id="Rc95dd550a67c4530" /><Relationship Type="http://schemas.openxmlformats.org/officeDocument/2006/relationships/slide" Target="/ppt/slides/slide1.xml" Id="Raf5a04a3fd4748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60564ca79548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Georgia Pro"/>
        <a:ea typeface=""/>
        <a:cs typeface=""/>
      </a:majorFont>
      <a:minorFont>
        <a:latin typeface="Georgia Pr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092c9f76d7490c" /><Relationship Type="http://schemas.openxmlformats.org/officeDocument/2006/relationships/notesMaster" Target="/ppt/notesMasters/notesMaster1.xml" Id="Re496c0b5fc1e41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risky portfolio may contain multiple risky assets. y measures the proportion of the investor’s wealth in that portfolio, not its internal stock weight. The illustration assumes no borrowing. A bond fund is risky; T-bills are modeled as risk-free for the specified holding period.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c252e36512429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a08a7c6a0648a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ca5fc28fb34cc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a8ebeb6948401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739b6623044ab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7f8862d75d42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AA7EE0-E3F3-4CF6-825A-86E92F2B9E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3F9E5B2-CDB0-4F52-82A0-ED13A7DBDA7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7CF2E0E-BE80-4350-91D0-F1AEB0FD12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9FF18EA-DAE0-4DD0-B03C-EA68D8F6E6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5F47B88-4ED1-41A3-A44A-40BA495F43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19B4DC3-8C2D-44B3-9E3B-FD23F31598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57509B-4E8C-4DEB-B191-16735E9B9D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E77187E-5B6E-43A0-84D2-57F711051C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DEE648-E028-401C-8DB8-270A39E3D2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22E853-31D1-45BF-AA3C-2AFE2166DF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39de035a294bdb" /><Relationship Type="http://schemas.openxmlformats.org/officeDocument/2006/relationships/slideLayout" Target="/ppt/slideLayouts/slideLayout1.xml" Id="R8013066abc07458b" /><Relationship Type="http://schemas.openxmlformats.org/officeDocument/2006/relationships/slideLayout" Target="/ppt/slideLayouts/slideLayout2.xml" Id="R78478f98ed0b4808" /><Relationship Type="http://schemas.openxmlformats.org/officeDocument/2006/relationships/slideLayout" Target="/ppt/slideLayouts/slideLayout3.xml" Id="R411dab03ccc7404c" /><Relationship Type="http://schemas.openxmlformats.org/officeDocument/2006/relationships/slideLayout" Target="/ppt/slideLayouts/slideLayout4.xml" Id="Radf44c17c2dd4689" /><Relationship Type="http://schemas.openxmlformats.org/officeDocument/2006/relationships/slideLayout" Target="/ppt/slideLayouts/slideLayout5.xml" Id="R8930fb59e36c46d3" /><Relationship Type="http://schemas.openxmlformats.org/officeDocument/2006/relationships/slideLayout" Target="/ppt/slideLayouts/slideLayout6.xml" Id="Ra5828986792f4c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13066abc07458b"/>
    <p:sldLayoutId xmlns:r="http://schemas.openxmlformats.org/officeDocument/2006/relationships" id="2147483650" r:id="R78478f98ed0b4808"/>
    <p:sldLayoutId xmlns:r="http://schemas.openxmlformats.org/officeDocument/2006/relationships" id="2147483651" r:id="R411dab03ccc7404c"/>
    <p:sldLayoutId xmlns:r="http://schemas.openxmlformats.org/officeDocument/2006/relationships" id="2147483652" r:id="Radf44c17c2dd4689"/>
    <p:sldLayoutId xmlns:r="http://schemas.openxmlformats.org/officeDocument/2006/relationships" id="2147483653" r:id="R8930fb59e36c46d3"/>
    <p:sldLayoutId xmlns:r="http://schemas.openxmlformats.org/officeDocument/2006/relationships" id="2147483654" r:id="Ra5828986792f4c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Georgia Pro"/>
        <a:ea typeface=""/>
        <a:cs typeface=""/>
      </a:majorFont>
      <a:minorFont>
        <a:latin typeface="Georgia Pr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f1fc357f6b401b" /><Relationship Type="http://schemas.openxmlformats.org/officeDocument/2006/relationships/notesSlide" Target="/ppt/notesSlides/notesSlide1.xml" Id="R178609ec4bf645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EC704C-59CE-4F62-A64C-5DBBA8DA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695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l">
              <a:defRPr sz="4650" b="1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4650" b="1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Complete portfolio: the investor’s whole mix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45128-0E8E-48D3-A8FE-3618EEE8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695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3150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ctr">
              <a:defRPr sz="3150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3150" b="0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Risky portfolio + risk-free investment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33C6C-6DA4-467D-B050-43D70027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3333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0398D-A39E-4369-A889-3A1E9F39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57750"/>
            <a:ext cx="3333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62A23-501A-4FAA-9BBB-70320F45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48250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FFFFFF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Georgia Pro"/>
                <a:ea typeface="Georgia Pro"/>
                <a:cs typeface="Georgia Pro"/>
              </a:defRPr>
            </a:pPr>
            <a:r>
              <a:rPr sz="3150" b="1">
                <a:solidFill>
                  <a:srgbClr val="FFFFFF"/>
                </a:solidFill>
                <a:latin typeface="Georgia Pro"/>
                <a:ea typeface="Georgia Pro"/>
                <a:cs typeface="Georgia Pro"/>
              </a:rPr>
              <a:t>50% risky</a:t>
            </a:r>
          </a:p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Georgia Pro"/>
                <a:ea typeface="Georgia Pro"/>
                <a:cs typeface="Georgia Pro"/>
              </a:defRPr>
            </a:pPr>
            <a:r>
              <a:rPr sz="3150" b="1">
                <a:solidFill>
                  <a:srgbClr val="FFFFFF"/>
                </a:solidFill>
                <a:latin typeface="Georgia Pro"/>
                <a:ea typeface="Georgia Pro"/>
                <a:cs typeface="Georgia Pro"/>
              </a:rPr>
              <a:t>portfolio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08AE1-2AE3-40C0-B29E-0B2C0083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48250"/>
            <a:ext cx="295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FFFFFF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Georgia Pro"/>
                <a:ea typeface="Georgia Pro"/>
                <a:cs typeface="Georgia Pro"/>
              </a:defRPr>
            </a:pPr>
            <a:r>
              <a:rPr sz="3150" b="1">
                <a:solidFill>
                  <a:srgbClr val="FFFFFF"/>
                </a:solidFill>
                <a:latin typeface="Georgia Pro"/>
                <a:ea typeface="Georgia Pro"/>
                <a:cs typeface="Georgia Pro"/>
              </a:rPr>
              <a:t>50% T-bills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CED347-9BF5-4628-97C3-22AE8651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3600" b="1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ctr">
              <a:defRPr sz="3600" b="1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3600" b="1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100% of invested wealth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84721-8E90-49CC-9C7C-147E1AE8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53250"/>
            <a:ext cx="695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2475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ctr">
              <a:defRPr sz="2475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2475" b="0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Two allocations, one complete portfolio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47695-898A-467C-87E3-4D0C37AC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3150" b="1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y = risky fraction of total wealth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B11AB4-3BB2-4060-B0D6-2B548975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67125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l">
              <a:defRPr sz="3075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l">
              <a:defRPr sz="3075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3075" b="0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1−y = fraction invested in T-bills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4EC34E-97EF-450F-9053-461E6956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000625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B6F73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B6F73"/>
                </a:solidFill>
                <a:latin typeface="Georgia Pro"/>
                <a:ea typeface="Georgia Pro"/>
                <a:cs typeface="Georgia Pro"/>
              </a:defRPr>
            </a:pPr>
            <a:r>
              <a:rPr sz="3150" b="1">
                <a:solidFill>
                  <a:srgbClr val="1B6F73"/>
                </a:solidFill>
                <a:latin typeface="Georgia Pro"/>
                <a:ea typeface="Georgia Pro"/>
                <a:cs typeface="Georgia Pro"/>
              </a:rPr>
              <a:t>Inside the risky portfolio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E64790-8814-4D0E-8574-38602B51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38875"/>
            <a:ext cx="314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1B6F73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1B6F73"/>
                </a:solidFill>
                <a:latin typeface="Georgia Pro"/>
                <a:ea typeface="Georgia Pro"/>
                <a:cs typeface="Georgia Pro"/>
              </a:defRPr>
            </a:pPr>
            <a:r>
              <a:rPr sz="3300" b="1">
                <a:solidFill>
                  <a:srgbClr val="1B6F73"/>
                </a:solidFill>
                <a:latin typeface="Georgia Pro"/>
                <a:ea typeface="Georgia Pro"/>
                <a:cs typeface="Georgia Pro"/>
              </a:rPr>
              <a:t>Stocks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9172D-2F7C-497A-B0BC-B2A32F53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6238875"/>
            <a:ext cx="314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1B6F73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1B6F73"/>
                </a:solidFill>
                <a:latin typeface="Georgia Pro"/>
                <a:ea typeface="Georgia Pro"/>
                <a:cs typeface="Georgia Pro"/>
              </a:defRPr>
            </a:pPr>
            <a:r>
              <a:rPr sz="3300" b="1">
                <a:solidFill>
                  <a:srgbClr val="1B6F73"/>
                </a:solidFill>
                <a:latin typeface="Georgia Pro"/>
                <a:ea typeface="Georgia Pro"/>
                <a:cs typeface="Georgia Pro"/>
              </a:rPr>
              <a:t>Bonds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63E2F-BC6D-41E2-9951-72F8AC6F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pathLst>
              <a:path w="18288000" h="10287000">
                <a:moveTo>
                  <a:pt x="13239750" y="5810250"/>
                </a:moveTo>
                <a:lnTo>
                  <a:pt x="11334750" y="61912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B6F7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C1C621-43CB-4AE3-B102-C3922D05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pathLst>
              <a:path w="18288000" h="10287000">
                <a:moveTo>
                  <a:pt x="13239750" y="5810250"/>
                </a:moveTo>
                <a:lnTo>
                  <a:pt x="15335250" y="61912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B6F7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290013-1BF4-4172-82EF-681D8D31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7334250"/>
            <a:ext cx="800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2850" b="0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The stock/bond mix is a separate decision.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A471DF-1478-4520-9F67-C5AAF884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24875"/>
            <a:ext cx="1676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ctr">
              <a:defRPr sz="2625" b="1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2625" b="1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Example: y=0.50 → 50% risky portfolio + 50% T-bills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ADC318-E68F-4140-B4C6-A1F041C3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96375"/>
            <a:ext cx="16954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54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7BCD34-2FAE-4664-A50D-288F9439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9163050"/>
            <a:ext cx="1647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FFFFFF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Georgia Pro"/>
                <a:ea typeface="Georgia Pro"/>
                <a:cs typeface="Georgia Pro"/>
              </a:defRPr>
            </a:pPr>
            <a:r>
              <a:rPr sz="2700" b="1">
                <a:solidFill>
                  <a:srgbClr val="FFFFFF"/>
                </a:solidFill>
                <a:latin typeface="Georgia Pro"/>
                <a:ea typeface="Georgia Pro"/>
                <a:cs typeface="Georgia Pro"/>
              </a:rPr>
              <a:t>A complete portfolio is one allocation of the investor’s wealth.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103C5E-2AE2-47A1-B796-601C4750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858375"/>
            <a:ext cx="1657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1875" b="0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T-bills are modeled as risk-free over the investment period.</a:t>
            </a:r>
          </a:p>
        </p:txBody>
      </p:sp>
    </p:spTree>
    <p:extLst>
      <p:ext uri="{BB962C8B-B14F-4D97-AF65-F5344CB8AC3E}">
        <p14:creationId xmlns:p14="http://schemas.microsoft.com/office/powerpoint/2010/main" val="18312084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Georgia Pro"/>
        <a:ea typeface=""/>
        <a:cs typeface=""/>
      </a:majorFont>
      <a:minorFont>
        <a:latin typeface="Georgia Pr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2026-10-11T16:58:59.0960000Z</dcterms:created>
  <dcterms:modified xsi:type="dcterms:W3CDTF">2026-10-11T16:58:59.0960000Z</dcterms:modified>
</coreProperties>
</file>