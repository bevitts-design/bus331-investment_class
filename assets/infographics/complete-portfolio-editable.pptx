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76fa2d2a6c4cba" /><Relationship Type="http://schemas.openxmlformats.org/officeDocument/2006/relationships/extended-properties" Target="/docProps/app.xml" Id="Rd1872d42a0024174" /><Relationship Type="http://schemas.openxmlformats.org/officeDocument/2006/relationships/officeDocument" Target="/ppt/presentation.xml" Id="R5d3f33e3843e47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e841a5a62046d0"/>
  </p:sldMasterIdLst>
  <p:notesMasterIdLst>
    <p:notesMasterId xmlns:r="http://schemas.openxmlformats.org/officeDocument/2006/relationships" r:id="R03614697afd24e9e"/>
  </p:notesMasterIdLst>
  <p:sldIdLst>
    <p:sldId xmlns:r="http://schemas.openxmlformats.org/officeDocument/2006/relationships" id="256" r:id="Rcc7e1a550f8b4b43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c9da2f8241e4a3a" /><Relationship Type="http://schemas.openxmlformats.org/officeDocument/2006/relationships/slideMaster" Target="/ppt/slideMasters/slideMaster1.xml" Id="R3de841a5a62046d0" /><Relationship Type="http://schemas.openxmlformats.org/officeDocument/2006/relationships/notesMaster" Target="/ppt/notesMasters/notesMaster1.xml" Id="R03614697afd24e9e" /><Relationship Type="http://schemas.openxmlformats.org/officeDocument/2006/relationships/presProps" Target="/ppt/presProps.xml" Id="R0b945059806c4d10" /><Relationship Type="http://schemas.openxmlformats.org/officeDocument/2006/relationships/tableStyles" Target="/ppt/tableStyles.xml" Id="Rcec611526c134fc0" /><Relationship Type="http://schemas.openxmlformats.org/officeDocument/2006/relationships/slide" Target="/ppt/slides/slide1.xml" Id="Rcc7e1a550f8b4b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4f9094c59145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Georgia Pro"/>
        <a:ea typeface=""/>
        <a:cs typeface=""/>
      </a:majorFont>
      <a:minorFont>
        <a:latin typeface="Georgia Pro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52ccc799c049e0" /><Relationship Type="http://schemas.openxmlformats.org/officeDocument/2006/relationships/notesMaster" Target="/ppt/notesMasters/notesMaster1.xml" Id="R5c24f43c90ba4a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risky portfolio may contain multiple risky assets. y measures the proportion of the investor’s wealth in that portfolio, not its internal stock weight. The illustration assumes no borrowing. A bond fund is risky; T-bills are modeled as risk-free for the specified holding period.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da12c060ca4fb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19e0d4f6bf433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ce28df0ad244a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85e39aec1d4d0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c50391bddb450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32d5dc9df549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9553CE2-1253-448F-B995-5FC12B2DEE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5C992C5-007C-4C0B-9406-364C34C313C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A0BCC80-EE6E-41CC-9C78-DDE34CAFDF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3B98B98-259B-4502-A69E-1F01942213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C80CB47-06F5-4B31-A3C7-9CF19028C0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3CD53DF-2932-492D-BA6F-85B4ACE918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8B4AA14-CB1B-4348-BFE5-569736C050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D095F76-1F90-431E-AB5A-02780ADE43C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06BDF5B-EE1D-48C3-B8BB-5EACFD9718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F6A4302-0982-4F23-9350-68B71476B0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09115e5f9c4cad" /><Relationship Type="http://schemas.openxmlformats.org/officeDocument/2006/relationships/slideLayout" Target="/ppt/slideLayouts/slideLayout1.xml" Id="R37d2c05db1eb4382" /><Relationship Type="http://schemas.openxmlformats.org/officeDocument/2006/relationships/slideLayout" Target="/ppt/slideLayouts/slideLayout2.xml" Id="R99e150781528489f" /><Relationship Type="http://schemas.openxmlformats.org/officeDocument/2006/relationships/slideLayout" Target="/ppt/slideLayouts/slideLayout3.xml" Id="Rdd66639a51fd4ff5" /><Relationship Type="http://schemas.openxmlformats.org/officeDocument/2006/relationships/slideLayout" Target="/ppt/slideLayouts/slideLayout4.xml" Id="Rdb5417652ed14016" /><Relationship Type="http://schemas.openxmlformats.org/officeDocument/2006/relationships/slideLayout" Target="/ppt/slideLayouts/slideLayout5.xml" Id="Rd409d32efbfb4297" /><Relationship Type="http://schemas.openxmlformats.org/officeDocument/2006/relationships/slideLayout" Target="/ppt/slideLayouts/slideLayout6.xml" Id="Rdb16cf06115247b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d2c05db1eb4382"/>
    <p:sldLayoutId xmlns:r="http://schemas.openxmlformats.org/officeDocument/2006/relationships" id="2147483650" r:id="R99e150781528489f"/>
    <p:sldLayoutId xmlns:r="http://schemas.openxmlformats.org/officeDocument/2006/relationships" id="2147483651" r:id="Rdd66639a51fd4ff5"/>
    <p:sldLayoutId xmlns:r="http://schemas.openxmlformats.org/officeDocument/2006/relationships" id="2147483652" r:id="Rdb5417652ed14016"/>
    <p:sldLayoutId xmlns:r="http://schemas.openxmlformats.org/officeDocument/2006/relationships" id="2147483653" r:id="Rd409d32efbfb4297"/>
    <p:sldLayoutId xmlns:r="http://schemas.openxmlformats.org/officeDocument/2006/relationships" id="2147483654" r:id="Rdb16cf06115247b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Georgia Pro"/>
        <a:ea typeface=""/>
        <a:cs typeface=""/>
      </a:majorFont>
      <a:minorFont>
        <a:latin typeface="Georgia Pro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f007c4358e4487" /><Relationship Type="http://schemas.openxmlformats.org/officeDocument/2006/relationships/notesSlide" Target="/ppt/notesSlides/notesSlide1.xml" Id="Rb60c2af6e8194ee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CD5FF4-C07B-4BF7-8C05-A1A1DDF2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695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l">
              <a:defRPr sz="4650" b="1">
                <a:solidFill>
                  <a:srgbClr val="0A2540"/>
                </a:solidFill>
                <a:latin typeface="Georgia Pro"/>
                <a:ea typeface="Georgia Pro"/>
                <a:cs typeface="Georgia Pro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0A2540"/>
                </a:solidFill>
                <a:latin typeface="Georgia Pro"/>
                <a:ea typeface="Georgia Pro"/>
                <a:cs typeface="Georgia Pro"/>
              </a:defRPr>
            </a:pPr>
            <a:r>
              <a:rPr sz="4650" b="1">
                <a:solidFill>
                  <a:srgbClr val="0A2540"/>
                </a:solidFill>
                <a:latin typeface="Georgia Pro"/>
                <a:ea typeface="Georgia Pro"/>
                <a:cs typeface="Georgia Pro"/>
              </a:rPr>
              <a:t>Complete portfolio: the investor’s whole mix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57F804-7789-4533-91D7-52AFC2286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695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3150" b="0">
                <a:solidFill>
                  <a:srgbClr val="0A2540"/>
                </a:solidFill>
                <a:latin typeface="Georgia Pro"/>
                <a:ea typeface="Georgia Pro"/>
                <a:cs typeface="Georgia Pro"/>
              </a:defRPr>
            </a:defPPr>
          </a:lstStyle>
          <a:p xmlns:a="http://schemas.openxmlformats.org/drawingml/2006/main">
            <a:pPr algn="ctr">
              <a:defRPr sz="3150" b="0">
                <a:solidFill>
                  <a:srgbClr val="0A2540"/>
                </a:solidFill>
                <a:latin typeface="Georgia Pro"/>
                <a:ea typeface="Georgia Pro"/>
                <a:cs typeface="Georgia Pro"/>
              </a:defRPr>
            </a:pPr>
            <a:r>
              <a:rPr sz="3150" b="0">
                <a:solidFill>
                  <a:srgbClr val="0A2540"/>
                </a:solidFill>
                <a:latin typeface="Georgia Pro"/>
                <a:ea typeface="Georgia Pro"/>
                <a:cs typeface="Georgia Pro"/>
              </a:rPr>
              <a:t>Risky portfolio + risk-free investment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9F57FC-7EE7-4504-94AD-D06AB6B4A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custGeom xmlns:a="http://schemas.openxmlformats.org/drawingml/2006/main">
            <a:pathLst>
              <a:path w="18288000" h="10287000">
                <a:moveTo>
                  <a:pt x="4667250" y="7429500"/>
                </a:moveTo>
                <a:lnTo>
                  <a:pt x="4598437" y="7428419"/>
                </a:lnTo>
                <a:lnTo>
                  <a:pt x="4529692" y="7425177"/>
                </a:lnTo>
                <a:lnTo>
                  <a:pt x="4461082" y="7419777"/>
                </a:lnTo>
                <a:lnTo>
                  <a:pt x="4392676" y="7412225"/>
                </a:lnTo>
                <a:lnTo>
                  <a:pt x="4324541" y="7402528"/>
                </a:lnTo>
                <a:lnTo>
                  <a:pt x="4256744" y="7390696"/>
                </a:lnTo>
                <a:lnTo>
                  <a:pt x="4189353" y="7376740"/>
                </a:lnTo>
                <a:lnTo>
                  <a:pt x="4122433" y="7360674"/>
                </a:lnTo>
                <a:lnTo>
                  <a:pt x="4056050" y="7342513"/>
                </a:lnTo>
                <a:lnTo>
                  <a:pt x="3990271" y="7322277"/>
                </a:lnTo>
                <a:lnTo>
                  <a:pt x="3925160" y="7299985"/>
                </a:lnTo>
                <a:lnTo>
                  <a:pt x="3860781" y="7275658"/>
                </a:lnTo>
                <a:lnTo>
                  <a:pt x="3797198" y="7249321"/>
                </a:lnTo>
                <a:lnTo>
                  <a:pt x="3734474" y="7221000"/>
                </a:lnTo>
                <a:lnTo>
                  <a:pt x="3672670" y="7190723"/>
                </a:lnTo>
                <a:lnTo>
                  <a:pt x="3611848" y="7158519"/>
                </a:lnTo>
                <a:lnTo>
                  <a:pt x="3552068" y="7124421"/>
                </a:lnTo>
                <a:lnTo>
                  <a:pt x="3493387" y="7088461"/>
                </a:lnTo>
                <a:lnTo>
                  <a:pt x="3435866" y="7050677"/>
                </a:lnTo>
                <a:lnTo>
                  <a:pt x="3379559" y="7011104"/>
                </a:lnTo>
                <a:lnTo>
                  <a:pt x="3324524" y="6969782"/>
                </a:lnTo>
                <a:lnTo>
                  <a:pt x="3270813" y="6926752"/>
                </a:lnTo>
                <a:lnTo>
                  <a:pt x="3218481" y="6882056"/>
                </a:lnTo>
                <a:lnTo>
                  <a:pt x="3167578" y="6835738"/>
                </a:lnTo>
                <a:lnTo>
                  <a:pt x="3118156" y="6787844"/>
                </a:lnTo>
                <a:lnTo>
                  <a:pt x="3070262" y="6738422"/>
                </a:lnTo>
                <a:lnTo>
                  <a:pt x="3023944" y="6687519"/>
                </a:lnTo>
                <a:lnTo>
                  <a:pt x="2979248" y="6635187"/>
                </a:lnTo>
                <a:lnTo>
                  <a:pt x="2936218" y="6581476"/>
                </a:lnTo>
                <a:lnTo>
                  <a:pt x="2894896" y="6526441"/>
                </a:lnTo>
                <a:lnTo>
                  <a:pt x="2855323" y="6470134"/>
                </a:lnTo>
                <a:lnTo>
                  <a:pt x="2817539" y="6412613"/>
                </a:lnTo>
                <a:lnTo>
                  <a:pt x="2781579" y="6353932"/>
                </a:lnTo>
                <a:lnTo>
                  <a:pt x="2747481" y="6294152"/>
                </a:lnTo>
                <a:lnTo>
                  <a:pt x="2715277" y="6233330"/>
                </a:lnTo>
                <a:lnTo>
                  <a:pt x="2685000" y="6171526"/>
                </a:lnTo>
                <a:lnTo>
                  <a:pt x="2656679" y="6108802"/>
                </a:lnTo>
                <a:lnTo>
                  <a:pt x="2630342" y="6045219"/>
                </a:lnTo>
                <a:lnTo>
                  <a:pt x="2606015" y="5980840"/>
                </a:lnTo>
                <a:lnTo>
                  <a:pt x="2583723" y="5915729"/>
                </a:lnTo>
                <a:lnTo>
                  <a:pt x="2563487" y="5849950"/>
                </a:lnTo>
                <a:lnTo>
                  <a:pt x="2545326" y="5783567"/>
                </a:lnTo>
                <a:lnTo>
                  <a:pt x="2529260" y="5716647"/>
                </a:lnTo>
                <a:lnTo>
                  <a:pt x="2515304" y="5649256"/>
                </a:lnTo>
                <a:lnTo>
                  <a:pt x="2503472" y="5581459"/>
                </a:lnTo>
                <a:lnTo>
                  <a:pt x="2493775" y="5513324"/>
                </a:lnTo>
                <a:lnTo>
                  <a:pt x="2486223" y="5444918"/>
                </a:lnTo>
                <a:lnTo>
                  <a:pt x="2480823" y="5376308"/>
                </a:lnTo>
                <a:lnTo>
                  <a:pt x="2477581" y="5307563"/>
                </a:lnTo>
                <a:lnTo>
                  <a:pt x="2476500" y="5238750"/>
                </a:lnTo>
                <a:lnTo>
                  <a:pt x="2477581" y="5169937"/>
                </a:lnTo>
                <a:lnTo>
                  <a:pt x="2480823" y="5101192"/>
                </a:lnTo>
                <a:lnTo>
                  <a:pt x="2486223" y="5032582"/>
                </a:lnTo>
                <a:lnTo>
                  <a:pt x="2493775" y="4964176"/>
                </a:lnTo>
                <a:lnTo>
                  <a:pt x="2503472" y="4896041"/>
                </a:lnTo>
                <a:lnTo>
                  <a:pt x="2515304" y="4828244"/>
                </a:lnTo>
                <a:lnTo>
                  <a:pt x="2529260" y="4760853"/>
                </a:lnTo>
                <a:lnTo>
                  <a:pt x="2545326" y="4693933"/>
                </a:lnTo>
                <a:lnTo>
                  <a:pt x="2563487" y="4627550"/>
                </a:lnTo>
                <a:lnTo>
                  <a:pt x="2583723" y="4561771"/>
                </a:lnTo>
                <a:lnTo>
                  <a:pt x="2606015" y="4496660"/>
                </a:lnTo>
                <a:lnTo>
                  <a:pt x="2630342" y="4432281"/>
                </a:lnTo>
                <a:lnTo>
                  <a:pt x="2656679" y="4368698"/>
                </a:lnTo>
                <a:lnTo>
                  <a:pt x="2685000" y="4305974"/>
                </a:lnTo>
                <a:lnTo>
                  <a:pt x="2715277" y="4244170"/>
                </a:lnTo>
                <a:lnTo>
                  <a:pt x="2747481" y="4183348"/>
                </a:lnTo>
                <a:lnTo>
                  <a:pt x="2781579" y="4123568"/>
                </a:lnTo>
                <a:lnTo>
                  <a:pt x="2817539" y="4064887"/>
                </a:lnTo>
                <a:lnTo>
                  <a:pt x="2855323" y="4007366"/>
                </a:lnTo>
                <a:lnTo>
                  <a:pt x="2894896" y="3951059"/>
                </a:lnTo>
                <a:lnTo>
                  <a:pt x="2936218" y="3896024"/>
                </a:lnTo>
                <a:lnTo>
                  <a:pt x="2979248" y="3842313"/>
                </a:lnTo>
                <a:lnTo>
                  <a:pt x="3023944" y="3789981"/>
                </a:lnTo>
                <a:lnTo>
                  <a:pt x="3070262" y="3739078"/>
                </a:lnTo>
                <a:lnTo>
                  <a:pt x="3118156" y="3689656"/>
                </a:lnTo>
                <a:lnTo>
                  <a:pt x="3167578" y="3641762"/>
                </a:lnTo>
                <a:lnTo>
                  <a:pt x="3218481" y="3595444"/>
                </a:lnTo>
                <a:lnTo>
                  <a:pt x="3270813" y="3550748"/>
                </a:lnTo>
                <a:lnTo>
                  <a:pt x="3324524" y="3507718"/>
                </a:lnTo>
                <a:lnTo>
                  <a:pt x="3379559" y="3466396"/>
                </a:lnTo>
                <a:lnTo>
                  <a:pt x="3435866" y="3426823"/>
                </a:lnTo>
                <a:lnTo>
                  <a:pt x="3493387" y="3389039"/>
                </a:lnTo>
                <a:lnTo>
                  <a:pt x="3552068" y="3353079"/>
                </a:lnTo>
                <a:lnTo>
                  <a:pt x="3611848" y="3318981"/>
                </a:lnTo>
                <a:lnTo>
                  <a:pt x="3672670" y="3286777"/>
                </a:lnTo>
                <a:lnTo>
                  <a:pt x="3734474" y="3256500"/>
                </a:lnTo>
                <a:lnTo>
                  <a:pt x="3797198" y="3228179"/>
                </a:lnTo>
                <a:lnTo>
                  <a:pt x="3860781" y="3201842"/>
                </a:lnTo>
                <a:lnTo>
                  <a:pt x="3925160" y="3177515"/>
                </a:lnTo>
                <a:lnTo>
                  <a:pt x="3990271" y="3155223"/>
                </a:lnTo>
                <a:lnTo>
                  <a:pt x="4056050" y="3134987"/>
                </a:lnTo>
                <a:lnTo>
                  <a:pt x="4122433" y="3116826"/>
                </a:lnTo>
                <a:lnTo>
                  <a:pt x="4189353" y="3100760"/>
                </a:lnTo>
                <a:lnTo>
                  <a:pt x="4256744" y="3086804"/>
                </a:lnTo>
                <a:lnTo>
                  <a:pt x="4324541" y="3074972"/>
                </a:lnTo>
                <a:lnTo>
                  <a:pt x="4392676" y="3065275"/>
                </a:lnTo>
                <a:lnTo>
                  <a:pt x="4461082" y="3057723"/>
                </a:lnTo>
                <a:lnTo>
                  <a:pt x="4529692" y="3052323"/>
                </a:lnTo>
                <a:lnTo>
                  <a:pt x="4598437" y="3049081"/>
                </a:lnTo>
                <a:lnTo>
                  <a:pt x="4667250" y="3048000"/>
                </a:lnTo>
              </a:path>
            </a:pathLst>
          </a:custGeom>
          <a:noFill xmlns:a="http://schemas.openxmlformats.org/drawingml/2006/main"/>
          <a:ln xmlns:a="http://schemas.openxmlformats.org/drawingml/2006/main" w="1190625">
            <a:solidFill>
              <a:srgbClr val="1B6F7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21C48D-8784-420B-A1B4-65EEF4695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custGeom xmlns:a="http://schemas.openxmlformats.org/drawingml/2006/main">
            <a:pathLst>
              <a:path w="18288000" h="10287000">
                <a:moveTo>
                  <a:pt x="4667250" y="3048000"/>
                </a:moveTo>
                <a:lnTo>
                  <a:pt x="4736063" y="3049081"/>
                </a:lnTo>
                <a:lnTo>
                  <a:pt x="4804808" y="3052323"/>
                </a:lnTo>
                <a:lnTo>
                  <a:pt x="4873418" y="3057723"/>
                </a:lnTo>
                <a:lnTo>
                  <a:pt x="4941824" y="3065275"/>
                </a:lnTo>
                <a:lnTo>
                  <a:pt x="5009959" y="3074972"/>
                </a:lnTo>
                <a:lnTo>
                  <a:pt x="5077756" y="3086804"/>
                </a:lnTo>
                <a:lnTo>
                  <a:pt x="5145147" y="3100760"/>
                </a:lnTo>
                <a:lnTo>
                  <a:pt x="5212067" y="3116826"/>
                </a:lnTo>
                <a:lnTo>
                  <a:pt x="5278450" y="3134987"/>
                </a:lnTo>
                <a:lnTo>
                  <a:pt x="5344229" y="3155223"/>
                </a:lnTo>
                <a:lnTo>
                  <a:pt x="5409340" y="3177515"/>
                </a:lnTo>
                <a:lnTo>
                  <a:pt x="5473719" y="3201842"/>
                </a:lnTo>
                <a:lnTo>
                  <a:pt x="5537302" y="3228179"/>
                </a:lnTo>
                <a:lnTo>
                  <a:pt x="5600026" y="3256500"/>
                </a:lnTo>
                <a:lnTo>
                  <a:pt x="5661830" y="3286777"/>
                </a:lnTo>
                <a:lnTo>
                  <a:pt x="5722652" y="3318981"/>
                </a:lnTo>
                <a:lnTo>
                  <a:pt x="5782432" y="3353079"/>
                </a:lnTo>
                <a:lnTo>
                  <a:pt x="5841113" y="3389039"/>
                </a:lnTo>
                <a:lnTo>
                  <a:pt x="5898634" y="3426823"/>
                </a:lnTo>
                <a:lnTo>
                  <a:pt x="5954941" y="3466396"/>
                </a:lnTo>
                <a:lnTo>
                  <a:pt x="6009976" y="3507718"/>
                </a:lnTo>
                <a:lnTo>
                  <a:pt x="6063687" y="3550748"/>
                </a:lnTo>
                <a:lnTo>
                  <a:pt x="6116019" y="3595444"/>
                </a:lnTo>
                <a:lnTo>
                  <a:pt x="6166922" y="3641762"/>
                </a:lnTo>
                <a:lnTo>
                  <a:pt x="6216344" y="3689656"/>
                </a:lnTo>
                <a:lnTo>
                  <a:pt x="6264238" y="3739078"/>
                </a:lnTo>
                <a:lnTo>
                  <a:pt x="6310556" y="3789981"/>
                </a:lnTo>
                <a:lnTo>
                  <a:pt x="6355252" y="3842313"/>
                </a:lnTo>
                <a:lnTo>
                  <a:pt x="6398282" y="3896024"/>
                </a:lnTo>
                <a:lnTo>
                  <a:pt x="6439604" y="3951059"/>
                </a:lnTo>
                <a:lnTo>
                  <a:pt x="6479177" y="4007366"/>
                </a:lnTo>
                <a:lnTo>
                  <a:pt x="6516961" y="4064887"/>
                </a:lnTo>
                <a:lnTo>
                  <a:pt x="6552921" y="4123568"/>
                </a:lnTo>
                <a:lnTo>
                  <a:pt x="6587019" y="4183348"/>
                </a:lnTo>
                <a:lnTo>
                  <a:pt x="6619223" y="4244170"/>
                </a:lnTo>
                <a:lnTo>
                  <a:pt x="6649500" y="4305974"/>
                </a:lnTo>
                <a:lnTo>
                  <a:pt x="6677821" y="4368698"/>
                </a:lnTo>
                <a:lnTo>
                  <a:pt x="6704158" y="4432281"/>
                </a:lnTo>
                <a:lnTo>
                  <a:pt x="6728485" y="4496660"/>
                </a:lnTo>
                <a:lnTo>
                  <a:pt x="6750777" y="4561771"/>
                </a:lnTo>
                <a:lnTo>
                  <a:pt x="6771013" y="4627550"/>
                </a:lnTo>
                <a:lnTo>
                  <a:pt x="6789174" y="4693933"/>
                </a:lnTo>
                <a:lnTo>
                  <a:pt x="6805240" y="4760853"/>
                </a:lnTo>
                <a:lnTo>
                  <a:pt x="6819196" y="4828244"/>
                </a:lnTo>
                <a:lnTo>
                  <a:pt x="6831028" y="4896041"/>
                </a:lnTo>
                <a:lnTo>
                  <a:pt x="6840725" y="4964176"/>
                </a:lnTo>
                <a:lnTo>
                  <a:pt x="6848277" y="5032582"/>
                </a:lnTo>
                <a:lnTo>
                  <a:pt x="6853677" y="5101192"/>
                </a:lnTo>
                <a:lnTo>
                  <a:pt x="6856919" y="5169937"/>
                </a:lnTo>
                <a:lnTo>
                  <a:pt x="6858000" y="5238750"/>
                </a:lnTo>
                <a:lnTo>
                  <a:pt x="6856919" y="5307563"/>
                </a:lnTo>
                <a:lnTo>
                  <a:pt x="6853677" y="5376308"/>
                </a:lnTo>
                <a:lnTo>
                  <a:pt x="6848277" y="5444918"/>
                </a:lnTo>
                <a:lnTo>
                  <a:pt x="6840725" y="5513324"/>
                </a:lnTo>
                <a:lnTo>
                  <a:pt x="6831028" y="5581459"/>
                </a:lnTo>
                <a:lnTo>
                  <a:pt x="6819196" y="5649256"/>
                </a:lnTo>
                <a:lnTo>
                  <a:pt x="6805240" y="5716647"/>
                </a:lnTo>
                <a:lnTo>
                  <a:pt x="6789174" y="5783567"/>
                </a:lnTo>
                <a:lnTo>
                  <a:pt x="6771013" y="5849950"/>
                </a:lnTo>
                <a:lnTo>
                  <a:pt x="6750777" y="5915729"/>
                </a:lnTo>
                <a:lnTo>
                  <a:pt x="6728485" y="5980840"/>
                </a:lnTo>
                <a:lnTo>
                  <a:pt x="6704158" y="6045219"/>
                </a:lnTo>
                <a:lnTo>
                  <a:pt x="6677821" y="6108802"/>
                </a:lnTo>
                <a:lnTo>
                  <a:pt x="6649500" y="6171526"/>
                </a:lnTo>
                <a:lnTo>
                  <a:pt x="6619223" y="6233330"/>
                </a:lnTo>
                <a:lnTo>
                  <a:pt x="6587019" y="6294152"/>
                </a:lnTo>
                <a:lnTo>
                  <a:pt x="6552921" y="6353932"/>
                </a:lnTo>
                <a:lnTo>
                  <a:pt x="6516961" y="6412613"/>
                </a:lnTo>
                <a:lnTo>
                  <a:pt x="6479177" y="6470134"/>
                </a:lnTo>
                <a:lnTo>
                  <a:pt x="6439604" y="6526441"/>
                </a:lnTo>
                <a:lnTo>
                  <a:pt x="6398282" y="6581476"/>
                </a:lnTo>
                <a:lnTo>
                  <a:pt x="6355252" y="6635187"/>
                </a:lnTo>
                <a:lnTo>
                  <a:pt x="6310556" y="6687519"/>
                </a:lnTo>
                <a:lnTo>
                  <a:pt x="6264238" y="6738422"/>
                </a:lnTo>
                <a:lnTo>
                  <a:pt x="6216344" y="6787844"/>
                </a:lnTo>
                <a:lnTo>
                  <a:pt x="6166922" y="6835738"/>
                </a:lnTo>
                <a:lnTo>
                  <a:pt x="6116019" y="6882056"/>
                </a:lnTo>
                <a:lnTo>
                  <a:pt x="6063687" y="6926752"/>
                </a:lnTo>
                <a:lnTo>
                  <a:pt x="6009976" y="6969782"/>
                </a:lnTo>
                <a:lnTo>
                  <a:pt x="5954941" y="7011104"/>
                </a:lnTo>
                <a:lnTo>
                  <a:pt x="5898634" y="7050677"/>
                </a:lnTo>
                <a:lnTo>
                  <a:pt x="5841113" y="7088461"/>
                </a:lnTo>
                <a:lnTo>
                  <a:pt x="5782432" y="7124421"/>
                </a:lnTo>
                <a:lnTo>
                  <a:pt x="5722652" y="7158519"/>
                </a:lnTo>
                <a:lnTo>
                  <a:pt x="5661830" y="7190723"/>
                </a:lnTo>
                <a:lnTo>
                  <a:pt x="5600026" y="7221000"/>
                </a:lnTo>
                <a:lnTo>
                  <a:pt x="5537302" y="7249321"/>
                </a:lnTo>
                <a:lnTo>
                  <a:pt x="5473719" y="7275658"/>
                </a:lnTo>
                <a:lnTo>
                  <a:pt x="5409340" y="7299985"/>
                </a:lnTo>
                <a:lnTo>
                  <a:pt x="5344229" y="7322277"/>
                </a:lnTo>
                <a:lnTo>
                  <a:pt x="5278450" y="7342513"/>
                </a:lnTo>
                <a:lnTo>
                  <a:pt x="5212067" y="7360674"/>
                </a:lnTo>
                <a:lnTo>
                  <a:pt x="5145147" y="7376740"/>
                </a:lnTo>
                <a:lnTo>
                  <a:pt x="5077756" y="7390696"/>
                </a:lnTo>
                <a:lnTo>
                  <a:pt x="5009959" y="7402528"/>
                </a:lnTo>
                <a:lnTo>
                  <a:pt x="4941824" y="7412225"/>
                </a:lnTo>
                <a:lnTo>
                  <a:pt x="4873418" y="7419777"/>
                </a:lnTo>
                <a:lnTo>
                  <a:pt x="4804808" y="7425177"/>
                </a:lnTo>
                <a:lnTo>
                  <a:pt x="4736063" y="7428419"/>
                </a:lnTo>
                <a:lnTo>
                  <a:pt x="4667250" y="7429500"/>
                </a:lnTo>
              </a:path>
            </a:pathLst>
          </a:custGeom>
          <a:noFill xmlns:a="http://schemas.openxmlformats.org/drawingml/2006/main"/>
          <a:ln xmlns:a="http://schemas.openxmlformats.org/drawingml/2006/main" w="1190625">
            <a:solidFill>
              <a:srgbClr val="B884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AADEA8-DD10-4F68-B8DC-9690C94E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495800"/>
            <a:ext cx="342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5250" b="1">
                <a:solidFill>
                  <a:srgbClr val="0A2540"/>
                </a:solidFill>
                <a:latin typeface="Georgia Pro"/>
                <a:ea typeface="Georgia Pro"/>
                <a:cs typeface="Georgia Pro"/>
              </a:defRPr>
            </a:defPPr>
          </a:lstStyle>
          <a:p xmlns:a="http://schemas.openxmlformats.org/drawingml/2006/main">
            <a:pPr algn="ctr">
              <a:defRPr sz="5250" b="1">
                <a:solidFill>
                  <a:srgbClr val="0A2540"/>
                </a:solidFill>
                <a:latin typeface="Georgia Pro"/>
                <a:ea typeface="Georgia Pro"/>
                <a:cs typeface="Georgia Pro"/>
              </a:defRPr>
            </a:pPr>
            <a:r>
              <a:rPr sz="5250" b="1">
                <a:solidFill>
                  <a:srgbClr val="0A2540"/>
                </a:solidFill>
                <a:latin typeface="Georgia Pro"/>
                <a:ea typeface="Georgia Pro"/>
                <a:cs typeface="Georgia Pro"/>
              </a:rPr>
              <a:t>100%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9AB23C-0401-4141-B884-45E64597E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286375"/>
            <a:ext cx="342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2925" b="0">
                <a:solidFill>
                  <a:srgbClr val="0A2540"/>
                </a:solidFill>
                <a:latin typeface="Georgia Pro"/>
                <a:ea typeface="Georgia Pro"/>
                <a:cs typeface="Georgia Pro"/>
              </a:defRPr>
            </a:defPPr>
          </a:lstStyle>
          <a:p xmlns:a="http://schemas.openxmlformats.org/drawingml/2006/main">
            <a:pPr algn="ctr">
              <a:defRPr sz="2925" b="0">
                <a:solidFill>
                  <a:srgbClr val="0A2540"/>
                </a:solidFill>
                <a:latin typeface="Georgia Pro"/>
                <a:ea typeface="Georgia Pro"/>
                <a:cs typeface="Georgia Pro"/>
              </a:defRPr>
            </a:pPr>
            <a:r>
              <a:rPr sz="2925" b="0">
                <a:solidFill>
                  <a:srgbClr val="0A2540"/>
                </a:solidFill>
                <a:latin typeface="Georgia Pro"/>
                <a:ea typeface="Georgia Pro"/>
                <a:cs typeface="Georgia Pro"/>
              </a:rPr>
              <a:t>of invested</a:t>
            </a:r>
          </a:p>
          <a:p xmlns:a="http://schemas.openxmlformats.org/drawingml/2006/main">
            <a:pPr algn="ctr">
              <a:defRPr sz="2925" b="0">
                <a:solidFill>
                  <a:srgbClr val="0A2540"/>
                </a:solidFill>
                <a:latin typeface="Georgia Pro"/>
                <a:ea typeface="Georgia Pro"/>
                <a:cs typeface="Georgia Pro"/>
              </a:defRPr>
            </a:pPr>
            <a:r>
              <a:rPr sz="2925" b="0">
                <a:solidFill>
                  <a:srgbClr val="0A2540"/>
                </a:solidFill>
                <a:latin typeface="Georgia Pro"/>
                <a:ea typeface="Georgia Pro"/>
                <a:cs typeface="Georgia Pro"/>
              </a:rPr>
              <a:t>wealth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5FAE0E-A70F-4983-858B-040B38E4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0486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1B6F73"/>
                </a:solidFill>
                <a:latin typeface="Georgia Pro"/>
                <a:ea typeface="Georgia Pro"/>
                <a:cs typeface="Georgia Pro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B6F73"/>
                </a:solidFill>
                <a:latin typeface="Georgia Pro"/>
                <a:ea typeface="Georgia Pro"/>
                <a:cs typeface="Georgia Pro"/>
              </a:defRPr>
            </a:pPr>
            <a:r>
              <a:rPr sz="2400" b="1">
                <a:solidFill>
                  <a:srgbClr val="1B6F73"/>
                </a:solidFill>
                <a:latin typeface="Georgia Pro"/>
                <a:ea typeface="Georgia Pro"/>
                <a:cs typeface="Georgia Pro"/>
              </a:rPr>
              <a:t>50% risky portfolio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A3DF6F-3C0E-4C89-B18B-251747E84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8048625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B8843D"/>
                </a:solidFill>
                <a:latin typeface="Georgia Pro"/>
                <a:ea typeface="Georgia Pro"/>
                <a:cs typeface="Georgia Pro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B8843D"/>
                </a:solidFill>
                <a:latin typeface="Georgia Pro"/>
                <a:ea typeface="Georgia Pro"/>
                <a:cs typeface="Georgia Pro"/>
              </a:defRPr>
            </a:pPr>
            <a:r>
              <a:rPr sz="2400" b="1">
                <a:solidFill>
                  <a:srgbClr val="B8843D"/>
                </a:solidFill>
                <a:latin typeface="Georgia Pro"/>
                <a:ea typeface="Georgia Pro"/>
                <a:cs typeface="Georgia Pro"/>
              </a:rPr>
              <a:t>50% T-bills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BECED2-0218-44CF-8B5E-F73583CFC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14625"/>
            <a:ext cx="800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0A2540"/>
                </a:solidFill>
                <a:latin typeface="Georgia Pro"/>
                <a:ea typeface="Georgia Pro"/>
                <a:cs typeface="Georgia Pro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A2540"/>
                </a:solidFill>
                <a:latin typeface="Georgia Pro"/>
                <a:ea typeface="Georgia Pro"/>
                <a:cs typeface="Georgia Pro"/>
              </a:defRPr>
            </a:pPr>
            <a:r>
              <a:rPr sz="3150" b="1">
                <a:solidFill>
                  <a:srgbClr val="0A2540"/>
                </a:solidFill>
                <a:latin typeface="Georgia Pro"/>
                <a:ea typeface="Georgia Pro"/>
                <a:cs typeface="Georgia Pro"/>
              </a:rPr>
              <a:t>y = risky fraction of total wealth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37BD02-416F-40C8-BBD4-862AEE1A2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67125"/>
            <a:ext cx="800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l">
              <a:defRPr sz="3075" b="0">
                <a:solidFill>
                  <a:srgbClr val="0A2540"/>
                </a:solidFill>
                <a:latin typeface="Georgia Pro"/>
                <a:ea typeface="Georgia Pro"/>
                <a:cs typeface="Georgia Pro"/>
              </a:defRPr>
            </a:defPPr>
          </a:lstStyle>
          <a:p xmlns:a="http://schemas.openxmlformats.org/drawingml/2006/main">
            <a:pPr algn="l">
              <a:defRPr sz="3075" b="0">
                <a:solidFill>
                  <a:srgbClr val="0A2540"/>
                </a:solidFill>
                <a:latin typeface="Georgia Pro"/>
                <a:ea typeface="Georgia Pro"/>
                <a:cs typeface="Georgia Pro"/>
              </a:defRPr>
            </a:pPr>
            <a:r>
              <a:rPr sz="3075" b="0">
                <a:solidFill>
                  <a:srgbClr val="0A2540"/>
                </a:solidFill>
                <a:latin typeface="Georgia Pro"/>
                <a:ea typeface="Georgia Pro"/>
                <a:cs typeface="Georgia Pro"/>
              </a:rPr>
              <a:t>1−y = fraction invested in T-bills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1652B0-AEFB-4A4F-B41A-C725CF29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000625"/>
            <a:ext cx="800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B6F73"/>
                </a:solidFill>
                <a:latin typeface="Georgia Pro"/>
                <a:ea typeface="Georgia Pro"/>
                <a:cs typeface="Georgia Pro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B6F73"/>
                </a:solidFill>
                <a:latin typeface="Georgia Pro"/>
                <a:ea typeface="Georgia Pro"/>
                <a:cs typeface="Georgia Pro"/>
              </a:defRPr>
            </a:pPr>
            <a:r>
              <a:rPr sz="3150" b="1">
                <a:solidFill>
                  <a:srgbClr val="1B6F73"/>
                </a:solidFill>
                <a:latin typeface="Georgia Pro"/>
                <a:ea typeface="Georgia Pro"/>
                <a:cs typeface="Georgia Pro"/>
              </a:rPr>
              <a:t>Inside the risky portfolio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4B8A07-A013-4AA6-AE81-3A676A14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238875"/>
            <a:ext cx="314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3300" b="1">
                <a:solidFill>
                  <a:srgbClr val="1B6F73"/>
                </a:solidFill>
                <a:latin typeface="Georgia Pro"/>
                <a:ea typeface="Georgia Pro"/>
                <a:cs typeface="Georgia Pro"/>
              </a:defRPr>
            </a:defPPr>
          </a:lstStyle>
          <a:p xmlns:a="http://schemas.openxmlformats.org/drawingml/2006/main">
            <a:pPr algn="ctr">
              <a:defRPr sz="3300" b="1">
                <a:solidFill>
                  <a:srgbClr val="1B6F73"/>
                </a:solidFill>
                <a:latin typeface="Georgia Pro"/>
                <a:ea typeface="Georgia Pro"/>
                <a:cs typeface="Georgia Pro"/>
              </a:defRPr>
            </a:pPr>
            <a:r>
              <a:rPr sz="3300" b="1">
                <a:solidFill>
                  <a:srgbClr val="1B6F73"/>
                </a:solidFill>
                <a:latin typeface="Georgia Pro"/>
                <a:ea typeface="Georgia Pro"/>
                <a:cs typeface="Georgia Pro"/>
              </a:rPr>
              <a:t>Stocks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CA9909-8CD7-4B0B-A20A-D9FD88A2E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6238875"/>
            <a:ext cx="314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3300" b="1">
                <a:solidFill>
                  <a:srgbClr val="1B6F73"/>
                </a:solidFill>
                <a:latin typeface="Georgia Pro"/>
                <a:ea typeface="Georgia Pro"/>
                <a:cs typeface="Georgia Pro"/>
              </a:defRPr>
            </a:defPPr>
          </a:lstStyle>
          <a:p xmlns:a="http://schemas.openxmlformats.org/drawingml/2006/main">
            <a:pPr algn="ctr">
              <a:defRPr sz="3300" b="1">
                <a:solidFill>
                  <a:srgbClr val="1B6F73"/>
                </a:solidFill>
                <a:latin typeface="Georgia Pro"/>
                <a:ea typeface="Georgia Pro"/>
                <a:cs typeface="Georgia Pro"/>
              </a:defRPr>
            </a:pPr>
            <a:r>
              <a:rPr sz="3300" b="1">
                <a:solidFill>
                  <a:srgbClr val="1B6F73"/>
                </a:solidFill>
                <a:latin typeface="Georgia Pro"/>
                <a:ea typeface="Georgia Pro"/>
                <a:cs typeface="Georgia Pro"/>
              </a:rPr>
              <a:t>Bonds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F8B008-44CF-4D57-993A-DEEB94A8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custGeom xmlns:a="http://schemas.openxmlformats.org/drawingml/2006/main">
            <a:pathLst>
              <a:path w="18288000" h="10287000">
                <a:moveTo>
                  <a:pt x="13239750" y="5810250"/>
                </a:moveTo>
                <a:lnTo>
                  <a:pt x="11334750" y="619125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B6F7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54979E-7C32-4A41-A6C8-8ADA44B8F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custGeom xmlns:a="http://schemas.openxmlformats.org/drawingml/2006/main">
            <a:pathLst>
              <a:path w="18288000" h="10287000">
                <a:moveTo>
                  <a:pt x="13239750" y="5810250"/>
                </a:moveTo>
                <a:lnTo>
                  <a:pt x="15335250" y="619125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B6F7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ABB81C-6E8D-4FB6-A698-D79EA7682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7334250"/>
            <a:ext cx="800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l">
              <a:defRPr sz="2850" b="0">
                <a:solidFill>
                  <a:srgbClr val="0A2540"/>
                </a:solidFill>
                <a:latin typeface="Georgia Pro"/>
                <a:ea typeface="Georgia Pro"/>
                <a:cs typeface="Georgia Pro"/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0A2540"/>
                </a:solidFill>
                <a:latin typeface="Georgia Pro"/>
                <a:ea typeface="Georgia Pro"/>
                <a:cs typeface="Georgia Pro"/>
              </a:defRPr>
            </a:pPr>
            <a:r>
              <a:rPr sz="2850" b="0">
                <a:solidFill>
                  <a:srgbClr val="0A2540"/>
                </a:solidFill>
                <a:latin typeface="Georgia Pro"/>
                <a:ea typeface="Georgia Pro"/>
                <a:cs typeface="Georgia Pro"/>
              </a:rPr>
              <a:t>The stock/bond mix is a separate decision.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8433B2-C054-4225-9CEF-22664F6B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24875"/>
            <a:ext cx="1676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2625" b="1">
                <a:solidFill>
                  <a:srgbClr val="0A2540"/>
                </a:solidFill>
                <a:latin typeface="Georgia Pro"/>
                <a:ea typeface="Georgia Pro"/>
                <a:cs typeface="Georgia Pro"/>
              </a:defRPr>
            </a:defPPr>
          </a:lstStyle>
          <a:p xmlns:a="http://schemas.openxmlformats.org/drawingml/2006/main">
            <a:pPr algn="ctr">
              <a:defRPr sz="2625" b="1">
                <a:solidFill>
                  <a:srgbClr val="0A2540"/>
                </a:solidFill>
                <a:latin typeface="Georgia Pro"/>
                <a:ea typeface="Georgia Pro"/>
                <a:cs typeface="Georgia Pro"/>
              </a:defRPr>
            </a:pPr>
            <a:r>
              <a:rPr sz="2625" b="1">
                <a:solidFill>
                  <a:srgbClr val="0A2540"/>
                </a:solidFill>
                <a:latin typeface="Georgia Pro"/>
                <a:ea typeface="Georgia Pro"/>
                <a:cs typeface="Georgia Pro"/>
              </a:rPr>
              <a:t>Example: y=0.50 → 50% risky portfolio + 50% T-bills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7969E7-607E-4926-B0DE-6564F4938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96375"/>
            <a:ext cx="16954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540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C8866A-0AED-415D-B4F5-D13213B09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9163050"/>
            <a:ext cx="1647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2700" b="1">
                <a:solidFill>
                  <a:srgbClr val="FFFFFF"/>
                </a:solidFill>
                <a:latin typeface="Georgia Pro"/>
                <a:ea typeface="Georgia Pro"/>
                <a:cs typeface="Georgia Pro"/>
              </a:defRPr>
            </a:defPPr>
          </a:lstStyle>
          <a:p xmlns:a="http://schemas.openxmlformats.org/drawingml/2006/main">
            <a:pPr algn="ctr">
              <a:defRPr sz="2700" b="1">
                <a:solidFill>
                  <a:srgbClr val="FFFFFF"/>
                </a:solidFill>
                <a:latin typeface="Georgia Pro"/>
                <a:ea typeface="Georgia Pro"/>
                <a:cs typeface="Georgia Pro"/>
              </a:defRPr>
            </a:pPr>
            <a:r>
              <a:rPr sz="2700" b="1">
                <a:solidFill>
                  <a:srgbClr val="FFFFFF"/>
                </a:solidFill>
                <a:latin typeface="Georgia Pro"/>
                <a:ea typeface="Georgia Pro"/>
                <a:cs typeface="Georgia Pro"/>
              </a:rPr>
              <a:t>A complete portfolio is one allocation of the investor’s wealth.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D6B3D8-9E35-433D-834C-BB0AC3810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858375"/>
            <a:ext cx="1657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0A2540"/>
                </a:solidFill>
                <a:latin typeface="Georgia Pro"/>
                <a:ea typeface="Georgia Pro"/>
                <a:cs typeface="Georgia Pro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0A2540"/>
                </a:solidFill>
                <a:latin typeface="Georgia Pro"/>
                <a:ea typeface="Georgia Pro"/>
                <a:cs typeface="Georgia Pro"/>
              </a:defRPr>
            </a:pPr>
            <a:r>
              <a:rPr sz="1875" b="0">
                <a:solidFill>
                  <a:srgbClr val="0A2540"/>
                </a:solidFill>
                <a:latin typeface="Georgia Pro"/>
                <a:ea typeface="Georgia Pro"/>
                <a:cs typeface="Georgia Pro"/>
              </a:rPr>
              <a:t>T-bills are modeled as risk-free over the investment period.</a:t>
            </a:r>
          </a:p>
        </p:txBody>
      </p:sp>
    </p:spTree>
    <p:extLst>
      <p:ext uri="{BB962C8B-B14F-4D97-AF65-F5344CB8AC3E}">
        <p14:creationId xmlns:p14="http://schemas.microsoft.com/office/powerpoint/2010/main" val="18390160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Georgia Pro"/>
        <a:ea typeface=""/>
        <a:cs typeface=""/>
      </a:majorFont>
      <a:minorFont>
        <a:latin typeface="Georgia Pro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2026-10-11T16:57:38.2500000Z</dcterms:created>
  <dcterms:modified xsi:type="dcterms:W3CDTF">2026-10-11T16:57:38.2500000Z</dcterms:modified>
</coreProperties>
</file>